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ebda12a0434c28" /><Relationship Type="http://schemas.openxmlformats.org/officeDocument/2006/relationships/extended-properties" Target="/docProps/app.xml" Id="Rce589b5de763414b" /><Relationship Type="http://schemas.openxmlformats.org/officeDocument/2006/relationships/officeDocument" Target="/ppt/presentation.xml" Id="Rd4f65f2ef7eb47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beb9630a9c4b94"/>
  </p:sldMasterIdLst>
  <p:notesMasterIdLst>
    <p:notesMasterId xmlns:r="http://schemas.openxmlformats.org/officeDocument/2006/relationships" r:id="R3ae136d0ca144934"/>
  </p:notesMasterIdLst>
  <p:sldIdLst>
    <p:sldId xmlns:r="http://schemas.openxmlformats.org/officeDocument/2006/relationships" id="256" r:id="R12efc0d3dc4e48e3"/>
    <p:sldId xmlns:r="http://schemas.openxmlformats.org/officeDocument/2006/relationships" id="257" r:id="R00d4f9c44a8b4b20"/>
    <p:sldId xmlns:r="http://schemas.openxmlformats.org/officeDocument/2006/relationships" id="258" r:id="R6ae17e2dc31546b9"/>
    <p:sldId xmlns:r="http://schemas.openxmlformats.org/officeDocument/2006/relationships" id="259" r:id="Ra3e98fcc0a5d4a15"/>
    <p:sldId xmlns:r="http://schemas.openxmlformats.org/officeDocument/2006/relationships" id="260" r:id="Rf9a1d7414d8441fd"/>
    <p:sldId xmlns:r="http://schemas.openxmlformats.org/officeDocument/2006/relationships" id="261" r:id="Rba76fc8f2ee24d5f"/>
    <p:sldId xmlns:r="http://schemas.openxmlformats.org/officeDocument/2006/relationships" id="262" r:id="Rc8bb45e33a4d4817"/>
    <p:sldId xmlns:r="http://schemas.openxmlformats.org/officeDocument/2006/relationships" id="263" r:id="Rbb56cf6666654124"/>
    <p:sldId xmlns:r="http://schemas.openxmlformats.org/officeDocument/2006/relationships" id="264" r:id="R2462ab879d514aa8"/>
    <p:sldId xmlns:r="http://schemas.openxmlformats.org/officeDocument/2006/relationships" id="265" r:id="Rb5334172cd9f49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f1a67e92f54cf3" /><Relationship Type="http://schemas.openxmlformats.org/officeDocument/2006/relationships/slideMaster" Target="/ppt/slideMasters/slideMaster1.xml" Id="R53beb9630a9c4b94" /><Relationship Type="http://schemas.openxmlformats.org/officeDocument/2006/relationships/notesMaster" Target="/ppt/notesMasters/notesMaster1.xml" Id="R3ae136d0ca144934" /><Relationship Type="http://schemas.openxmlformats.org/officeDocument/2006/relationships/presProps" Target="/ppt/presProps.xml" Id="R634cc3b16cdd49c9" /><Relationship Type="http://schemas.openxmlformats.org/officeDocument/2006/relationships/tableStyles" Target="/ppt/tableStyles.xml" Id="R7b2644eaa5724fe6" /><Relationship Type="http://schemas.openxmlformats.org/officeDocument/2006/relationships/slide" Target="/ppt/slides/slide1.xml" Id="R12efc0d3dc4e48e3" /><Relationship Type="http://schemas.openxmlformats.org/officeDocument/2006/relationships/slide" Target="/ppt/slides/slide2.xml" Id="R00d4f9c44a8b4b20" /><Relationship Type="http://schemas.openxmlformats.org/officeDocument/2006/relationships/slide" Target="/ppt/slides/slide3.xml" Id="R6ae17e2dc31546b9" /><Relationship Type="http://schemas.openxmlformats.org/officeDocument/2006/relationships/slide" Target="/ppt/slides/slide4.xml" Id="Ra3e98fcc0a5d4a15" /><Relationship Type="http://schemas.openxmlformats.org/officeDocument/2006/relationships/slide" Target="/ppt/slides/slide5.xml" Id="Rf9a1d7414d8441fd" /><Relationship Type="http://schemas.openxmlformats.org/officeDocument/2006/relationships/slide" Target="/ppt/slides/slide6.xml" Id="Rba76fc8f2ee24d5f" /><Relationship Type="http://schemas.openxmlformats.org/officeDocument/2006/relationships/slide" Target="/ppt/slides/slide7.xml" Id="Rc8bb45e33a4d4817" /><Relationship Type="http://schemas.openxmlformats.org/officeDocument/2006/relationships/slide" Target="/ppt/slides/slide8.xml" Id="Rbb56cf6666654124" /><Relationship Type="http://schemas.openxmlformats.org/officeDocument/2006/relationships/slide" Target="/ppt/slides/slide9.xml" Id="R2462ab879d514aa8" /><Relationship Type="http://schemas.openxmlformats.org/officeDocument/2006/relationships/slide" Target="/ppt/slides/slide10.xml" Id="Rb5334172cd9f49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4a59ee16bb4a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9149066d3646ef" /><Relationship Type="http://schemas.openxmlformats.org/officeDocument/2006/relationships/notesMaster" Target="/ppt/notesMasters/notesMaster1.xml" Id="R8d0e7f84211041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09c1e5b4c54e83" /><Relationship Type="http://schemas.openxmlformats.org/officeDocument/2006/relationships/notesMaster" Target="/ppt/notesMasters/notesMaster1.xml" Id="R4d3626be7bc24f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4faebd4c6146fd" /><Relationship Type="http://schemas.openxmlformats.org/officeDocument/2006/relationships/notesMaster" Target="/ppt/notesMasters/notesMaster1.xml" Id="R98620eac93a543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cc417aa6964cf5" /><Relationship Type="http://schemas.openxmlformats.org/officeDocument/2006/relationships/notesMaster" Target="/ppt/notesMasters/notesMaster1.xml" Id="R7989029ba4e048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a2e87728f74062" /><Relationship Type="http://schemas.openxmlformats.org/officeDocument/2006/relationships/notesMaster" Target="/ppt/notesMasters/notesMaster1.xml" Id="Rda8f683175f14f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c1e8a2d85a4146" /><Relationship Type="http://schemas.openxmlformats.org/officeDocument/2006/relationships/notesMaster" Target="/ppt/notesMasters/notesMaster1.xml" Id="R1d6a532bbf314c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64d5d736b0431d" /><Relationship Type="http://schemas.openxmlformats.org/officeDocument/2006/relationships/notesMaster" Target="/ppt/notesMasters/notesMaster1.xml" Id="Rf7686594e66843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da8c1b6e914147" /><Relationship Type="http://schemas.openxmlformats.org/officeDocument/2006/relationships/notesMaster" Target="/ppt/notesMasters/notesMaster1.xml" Id="R4bc5446e43bc4a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aa3364b6c6401e" /><Relationship Type="http://schemas.openxmlformats.org/officeDocument/2006/relationships/notesMaster" Target="/ppt/notesMasters/notesMaster1.xml" Id="R0dee1243e73e43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c46eca0bef4daf" /><Relationship Type="http://schemas.openxmlformats.org/officeDocument/2006/relationships/notesMaster" Target="/ppt/notesMasters/notesMaster1.xml" Id="R756be55c007f46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Начните: «NULL / ESCAPE — браузерное приключение, в котором первые строки Python помогают выбраться из цифровой тюрьмы». Это действующий прототип. Назовите своё имя и организацию устно. У проекта пока нет результатов исследования эффективности.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source: https://escape-zero-python-aya.madinasatualdypova.chatgpt.site/</a:t>
            </a:r>
          </a:p>
          <a:p xmlns:a="http://schemas.openxmlformats.org/drawingml/2006/main">
            <a:r>
              <a:t>Evidence: implemented HTML, CSS and JavaScript prototype, September 2026. Product screenshots show the working local version. No learner outcome study has been conducted.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Объясните проблему как проектную гипотезу, а не доказанную статистику. Начинающему нужно понять, зачем нужна строка кода, и получить понятную обратную связь. Предлагаемая аудитория — школьники и другие начинающие, для которых это первое знакомство с Python. Эффект игры ещё предстоит измерить.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source: https://escape-zero-python-aya.madinasatualdypova.chatgpt.site/</a:t>
            </a:r>
          </a:p>
          <a:p xmlns:a="http://schemas.openxmlformats.org/drawingml/2006/main">
            <a:r>
              <a:t>Evidence: implemented HTML, CSS and JavaScript prototype, September 2026. Product screenshots show the working local version. No learner outcome study has been conducted.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карту: персонаж перемещается по комнате, зелёный терминал содержит задачу, жёлтая запись раскрывает историю. Решение открывает дверь. В финале игрок решает судьбу Миры. Это повествовательная оболочка вокруг учебных заданий, а не доказательство обучения. Скриншот — реальная английская версия игры.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source: https://escape-zero-python-aya.madinasatualdypova.chatgpt.site/</a:t>
            </a:r>
          </a:p>
          <a:p xmlns:a="http://schemas.openxmlformats.org/drawingml/2006/main">
            <a:r>
              <a:t>Evidence: implemented HTML, CSS and JavaScript prototype, September 2026. Product screenshots show the working local version. No learner outcome study has been conducted.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Кратко пройдите по программе. В первом задании игрок присваивает значение переменной. Затем выводит строку, проверяет условие, задаёт число повторений и вызывает функцию. Каждая глава знакомит с одной основой. Пять коротких задач не заменяют полноценный курс.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source: https://escape-zero-python-aya.madinasatualdypova.chatgpt.site/</a:t>
            </a:r>
          </a:p>
          <a:p xmlns:a="http://schemas.openxmlformats.org/drawingml/2006/main">
            <a:r>
              <a:t>Evidence: implemented HTML, CSS and JavaScript prototype, September 2026. Product screenshots show the working local version. No learner outcome study has been conducted.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Продемонстрируйте первый терминал. Задание просит зарядить дверь до 100. Ученик дописывает значение. Терминал принимает правильный фрагмент, показывает результат и открывает проход. Важно честно уточнить: текущая версия проверяет заранее заданные ответы и моделирует результат. Она не запускает произвольный Python.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source: https://escape-zero-python-aya.madinasatualdypova.chatgpt.site/</a:t>
            </a:r>
          </a:p>
          <a:p xmlns:a="http://schemas.openxmlformats.org/drawingml/2006/main">
            <a:r>
              <a:t>Evidence: implemented HTML, CSS and JavaScript prototype, September 2026. Product screenshots show the working local version. No learner outcome study has been conducted.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переключатель RU, ҚАЗ, EN. Переведены не только меню, но и объяснения, сюжет, дневник, обратная связь и финалы. Названия команд Python остаются стандартными. Выбор языка сохраняется в браузере, а переключение не сбрасывает текущую игру. Для будущего школьного внедрения планируется проверка формулировок преподавателями и носителями языка.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source: https://escape-zero-python-aya.madinasatualdypova.chatgpt.site/</a:t>
            </a:r>
          </a:p>
          <a:p xmlns:a="http://schemas.openxmlformats.org/drawingml/2006/main">
            <a:r>
              <a:t>Evidence: implemented HTML, CSS and JavaScript prototype, September 2026. Product screenshots show the working local version. No learner outcome study has been conducted.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Техническая часть проекта: HTML задаёт элементы интерфейса, CSS адаптирует их к экрану, Canvas рисует игровое поле, JavaScript управляет движением, проверками и сюжетом. Отдельный словарь хранит тексты трёх языков. В текущей версии нет серверной базы, аккаунтов игроков или аналитики. Прогресс хранится в памяти до перезагрузки, а предпочтение языка — локально.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source: https://escape-zero-python-aya.madinasatualdypova.chatgpt.site/</a:t>
            </a:r>
          </a:p>
          <a:p xmlns:a="http://schemas.openxmlformats.org/drawingml/2006/main">
            <a:r>
              <a:t>Evidence: implemented HTML, CSS and JavaScript prototype, September 2026. Product screenshots show the working local version. No learner outcome study has been conducted.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Разделите то, что проверено, и то, что ещё неизвестно. Программные проверки охватывают правильные и неправильные ответы, переводы, переключение языка и финалы. Это функциональная готовность прототипа, а не доказанная образовательная эффективность. Ограничения: нет полноценного интерпретатора, долговременного сохранения прогресса или данных о результатах учеников.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source: https://escape-zero-python-aya.madinasatualdypova.chatgpt.site/</a:t>
            </a:r>
          </a:p>
          <a:p xmlns:a="http://schemas.openxmlformats.org/drawingml/2006/main">
            <a:r>
              <a:t>Evidence: implemented HTML, CSS and JavaScript prototype, September 2026. Product screenshots show the working local version. No learner outcome study has been conducted.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Предложите пилот, не называя его уже проведённым исследованием. Сначала короткое задание на знание пяти тем. Затем прохождение игры. После — новые аналогичные задачи без подсказок и интервью об удобстве. Фиксировать правильность, число подсказок и точки затруднений. Для оценки именно эффекта игры нужен сопоставимый обычный урок и одинаковое время. Данные и разрешения следует организовать через школу.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source: https://escape-zero-python-aya.madinasatualdypova.chatgpt.site/</a:t>
            </a:r>
          </a:p>
          <a:p xmlns:a="http://schemas.openxmlformats.org/drawingml/2006/main">
            <a:r>
              <a:t>Evidence: implemented HTML, CSS and JavaScript prototype, September 2026. Product screenshots show the working local version. No learner outcome study has been conducted.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Завершите приглашением к демонстрации: «Выберите язык, откройте первый терминал и попробуйте решить задачу». План развития: провести пилот и языковую проверку, добавить переносимые задачи, затем полноценное выполнение Python и сохранение прогресса. Ссылка пока доступна владельцу. Для жюри можно демонстрировать офлайн-файл null-escape.html без подключения к интернету. Не обещайте открытый доступ, пока он не настроен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source: https://escape-zero-python-aya.madinasatualdypova.chatgpt.site/</a:t>
            </a:r>
          </a:p>
          <a:p xmlns:a="http://schemas.openxmlformats.org/drawingml/2006/main">
            <a:r>
              <a:t>Evidence: implemented HTML, CSS and JavaScript prototype, September 2026. Product screenshots show the working local version. No learner outcome study has been conducted.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c4fb838454b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943873da2f4ff4" /><Relationship Type="http://schemas.openxmlformats.org/officeDocument/2006/relationships/slideLayout" Target="/ppt/slideLayouts/slideLayout1.xml" Id="R0058844db45746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58844db45746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cc39f262e49c5" /><Relationship Type="http://schemas.openxmlformats.org/officeDocument/2006/relationships/notesSlide" Target="/ppt/notesSlides/notesSlide1.xml" Id="R3bdab0c3cf734f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52354abbd47a2" /><Relationship Type="http://schemas.openxmlformats.org/officeDocument/2006/relationships/notesSlide" Target="/ppt/notesSlides/notesSlide2.xml" Id="R450481f83cbb46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aa69469bc4cf9" /><Relationship Type="http://schemas.openxmlformats.org/officeDocument/2006/relationships/image" Target="/ppt/media/image.jpeg" Id="Ra8e92be7ace348ae" /><Relationship Type="http://schemas.openxmlformats.org/officeDocument/2006/relationships/notesSlide" Target="/ppt/notesSlides/notesSlide3.xml" Id="R5475a24508e742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53c9e483a4f5f" /><Relationship Type="http://schemas.openxmlformats.org/officeDocument/2006/relationships/notesSlide" Target="/ppt/notesSlides/notesSlide4.xml" Id="R8fb5dd62465841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0f29596454ca2" /><Relationship Type="http://schemas.openxmlformats.org/officeDocument/2006/relationships/notesSlide" Target="/ppt/notesSlides/notesSlide5.xml" Id="Re320e23f14ee42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eb712e42c42f2" /><Relationship Type="http://schemas.openxmlformats.org/officeDocument/2006/relationships/image" Target="/ppt/media/image2.jpeg" Id="R8076bb7c3755493a" /><Relationship Type="http://schemas.openxmlformats.org/officeDocument/2006/relationships/notesSlide" Target="/ppt/notesSlides/notesSlide6.xml" Id="Rd6afec03556742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ce90fea5a405e" /><Relationship Type="http://schemas.openxmlformats.org/officeDocument/2006/relationships/notesSlide" Target="/ppt/notesSlides/notesSlide7.xml" Id="Rb1837c7a80b245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d42c3e3a4493a" /><Relationship Type="http://schemas.openxmlformats.org/officeDocument/2006/relationships/notesSlide" Target="/ppt/notesSlides/notesSlide8.xml" Id="R9aa84906525e43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e81b53f074b98" /><Relationship Type="http://schemas.openxmlformats.org/officeDocument/2006/relationships/notesSlide" Target="/ppt/notesSlides/notesSlide9.xml" Id="Ra5720ff6c3084d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76f8bbc2e4ce0" /><Relationship Type="http://schemas.openxmlformats.org/officeDocument/2006/relationships/hyperlink" Target="https://escape-zero-python-aya.madinasatualdypova.chatgpt.site/" TargetMode="External" Id="R3eb1c57979354a5e" /><Relationship Type="http://schemas.openxmlformats.org/officeDocument/2006/relationships/notesSlide" Target="/ppt/notesSlides/notesSlide10.xml" Id="Re1e6beb1424847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11C8E-31B7-4E7B-B622-0911C41A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61344-3C2D-4676-9F8D-6C0F864D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NULL / ESCAPE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BC7EA-8FA4-49C9-9A92-0CB90129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A story adventure for learning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A727E-1F4C-44A9-9A2B-85E8F0AD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Kazakh / Russian / English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2585D-344D-4B43-99D6-F859E4EC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Playable web prototype</a:t>
            </a:r>
          </a:p>
        </p:txBody>
      </p:sp>
    </p:spTree>
    <p:extLst>
      <p:ext uri="{BB962C8B-B14F-4D97-AF65-F5344CB8AC3E}">
        <p14:creationId xmlns:p14="http://schemas.microsoft.com/office/powerpoint/2010/main" val="1404651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7D745-4F86-4642-AC0C-ABEF8E71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The learning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B82FD-D0A6-403F-84D7-A84C1107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BE31A-EA5D-45CA-86ED-B751470C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00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A beginner needs a reason</a:t>
            </a:r>
          </a:p>
          <a:p xmlns:a="http://schemas.openxmlformats.org/drawingml/2006/main">
            <a:pPr>
              <a:defRPr sz="40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to write the next 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6124A-2082-4A33-807D-C1974A70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Design hypothesis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CD2A0-40BB-4314-8713-52C0FC7C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52825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A visible goal and a safe place to retry may make the first coding exercise easier to approach.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9F79F-BA2F-467F-9F75-71DB5375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Intended audience: first-time Python learners, including school students.</a:t>
            </a:r>
          </a:p>
        </p:txBody>
      </p:sp>
    </p:spTree>
    <p:extLst>
      <p:ext uri="{BB962C8B-B14F-4D97-AF65-F5344CB8AC3E}">
        <p14:creationId xmlns:p14="http://schemas.microsoft.com/office/powerpoint/2010/main" val="124933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EDF43-43BF-417F-80CA-8A39E4C3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The playable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2EC65-E8EE-4D8A-9345-FED966C3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5A8F5-C7D7-45D3-B120-0B1DF0DF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Escape a digital prison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DB8DC-C956-41DC-8599-7438ACE6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0957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Explore a room.</a:t>
            </a:r>
          </a:p>
          <a:p xmlns:a="http://schemas.openxmlformats.org/drawingml/2006/main">
            <a:pPr>
              <a:defRPr sz="23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Find its terminal.</a:t>
            </a:r>
          </a:p>
          <a:p xmlns:a="http://schemas.openxmlformats.org/drawingml/2006/main">
            <a:pPr>
              <a:defRPr sz="23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Repair one code fragment.</a:t>
            </a:r>
          </a:p>
          <a:p xmlns:a="http://schemas.openxmlformats.org/drawingml/2006/main">
            <a:pPr>
              <a:defRPr sz="23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Open the next door.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C3112-A0C4-496A-8093-D8FAFDA6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4238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Mira guides the player through five chapters and a final choice.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92be7ace348ae"/>
          <a:srcRect xmlns:a="http://schemas.openxmlformats.org/drawingml/2006/main" l="0" t="0" r="50000" b="50000"/>
          <a:stretch xmlns:a="http://schemas.openxmlformats.org/drawingml/2006/main"/>
        </p:blipFill>
        <p:spPr>
          <a:xfrm xmlns:a="http://schemas.openxmlformats.org/drawingml/2006/main">
            <a:off x="6534150" y="1371600"/>
            <a:ext cx="4410075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05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141C1-A28C-473C-951E-F38E31DF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Five chapters, five Python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478A7-3598-47A0-BBF6-1B2198AE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3333750"/>
                <a:gridCol w="3638550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C5F57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Chapter</a:t>
                      </a:r>
                    </a:p>
                  </a:txBody>
                  <a:tcPr marL="91440" marR="91440" marT="45720" marB="45720">
                    <a:solidFill>
                      <a:srgbClr val="26372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C5F57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Concept</a:t>
                      </a:r>
                    </a:p>
                  </a:txBody>
                  <a:tcPr marL="91440" marR="91440" marT="45720" marB="45720">
                    <a:solidFill>
                      <a:srgbClr val="26372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C5F57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 fragment</a:t>
                      </a:r>
                    </a:p>
                  </a:txBody>
                  <a:tcPr marL="91440" marR="91440" marT="45720" marB="45720">
                    <a:solidFill>
                      <a:srgbClr val="263724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0F4E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  Restore power</a:t>
                      </a:r>
                    </a:p>
                  </a:txBody>
                  <a:tcPr marL="91440" marR="91440" marT="45720" marB="45720">
                    <a:solidFill>
                      <a:srgbClr val="1019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0F4E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Variables</a:t>
                      </a:r>
                    </a:p>
                  </a:txBody>
                  <a:tcPr marL="91440" marR="91440" marT="45720" marB="45720">
                    <a:solidFill>
                      <a:srgbClr val="1019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0F4E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energy = 100</a:t>
                      </a:r>
                    </a:p>
                  </a:txBody>
                  <a:tcPr marL="91440" marR="91440" marT="45720" marB="45720">
                    <a:solidFill>
                      <a:srgbClr val="101916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0F4E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  Send a signal</a:t>
                      </a:r>
                    </a:p>
                  </a:txBody>
                  <a:tcPr marL="91440" marR="91440" marT="45720" marB="45720">
                    <a:solidFill>
                      <a:srgbClr val="1019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0F4E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Strings and output</a:t>
                      </a:r>
                    </a:p>
                  </a:txBody>
                  <a:tcPr marL="91440" marR="91440" marT="45720" marB="45720">
                    <a:solidFill>
                      <a:srgbClr val="1019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0F4E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print("MIRA")</a:t>
                      </a:r>
                    </a:p>
                  </a:txBody>
                  <a:tcPr marL="91440" marR="91440" marT="45720" marB="45720">
                    <a:solidFill>
                      <a:srgbClr val="101916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0F4E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  Bypass security</a:t>
                      </a:r>
                    </a:p>
                  </a:txBody>
                  <a:tcPr marL="91440" marR="91440" marT="45720" marB="45720">
                    <a:solidFill>
                      <a:srgbClr val="1019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0F4E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Conditionals</a:t>
                      </a:r>
                    </a:p>
                  </a:txBody>
                  <a:tcPr marL="91440" marR="91440" marT="45720" marB="45720">
                    <a:solidFill>
                      <a:srgbClr val="1019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0F4E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if access == 3:</a:t>
                      </a:r>
                    </a:p>
                  </a:txBody>
                  <a:tcPr marL="91440" marR="91440" marT="45720" marB="45720">
                    <a:solidFill>
                      <a:srgbClr val="101916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0F4E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  Start cooling</a:t>
                      </a:r>
                    </a:p>
                  </a:txBody>
                  <a:tcPr marL="91440" marR="91440" marT="45720" marB="45720">
                    <a:solidFill>
                      <a:srgbClr val="1019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0F4E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Loops</a:t>
                      </a:r>
                    </a:p>
                  </a:txBody>
                  <a:tcPr marL="91440" marR="91440" marT="45720" marB="45720">
                    <a:solidFill>
                      <a:srgbClr val="1019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0F4E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 fan in range(3):</a:t>
                      </a:r>
                    </a:p>
                  </a:txBody>
                  <a:tcPr marL="91440" marR="91440" marT="45720" marB="45720">
                    <a:solidFill>
                      <a:srgbClr val="101916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0F4E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  Open the exit</a:t>
                      </a:r>
                    </a:p>
                  </a:txBody>
                  <a:tcPr marL="91440" marR="91440" marT="45720" marB="45720">
                    <a:solidFill>
                      <a:srgbClr val="1019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0F4E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Functions</a:t>
                      </a:r>
                    </a:p>
                  </a:txBody>
                  <a:tcPr marL="91440" marR="91440" marT="45720" marB="45720">
                    <a:solidFill>
                      <a:srgbClr val="1019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0F4E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escape()</a:t>
                      </a:r>
                    </a:p>
                  </a:txBody>
                  <a:tcPr marL="91440" marR="91440" marT="45720" marB="45720">
                    <a:solidFill>
                      <a:srgbClr val="10191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A3218-F6D7-4082-A3C8-2328FDA9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An introduction to core ideas, with one guided task per chapter.</a:t>
            </a:r>
          </a:p>
        </p:txBody>
      </p:sp>
    </p:spTree>
    <p:extLst>
      <p:ext uri="{BB962C8B-B14F-4D97-AF65-F5344CB8AC3E}">
        <p14:creationId xmlns:p14="http://schemas.microsoft.com/office/powerpoint/2010/main" val="15320726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A5261-579E-469D-94F6-DC99D5B8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One puzzle in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BFC1E-86EA-4C78-B76F-0180AD9D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BB9DA-5C5F-4C9D-8778-255C0457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The door has no power.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A663E-24F9-468D-9B31-0B4F6830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Set the energy variable to 100.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C1208-847B-46E9-B47C-D0A03C67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62125"/>
            <a:ext cx="5095875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energy = 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375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print(energy)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6E978-8055-42D3-834B-A456EE81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Result: 100</a:t>
            </a:r>
          </a:p>
          <a:p xmlns:a="http://schemas.openxmlformats.org/drawingml/2006/main">
            <a:pPr>
              <a:defRPr sz="24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The door opens.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451F6-C2B1-4895-AF47-30D3E194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0768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A hint explains the missing concept.</a:t>
            </a:r>
          </a:p>
          <a:p xmlns:a="http://schemas.openxmlformats.org/drawingml/2006/main">
            <a:pPr>
              <a:defRPr sz="20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An incorrect answer allows another try.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48D6C-0174-40E4-8135-D55DA870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Current implementation: predefined answer checks and simulated output, not a general Python interpreter.</a:t>
            </a:r>
          </a:p>
        </p:txBody>
      </p:sp>
    </p:spTree>
    <p:extLst>
      <p:ext uri="{BB962C8B-B14F-4D97-AF65-F5344CB8AC3E}">
        <p14:creationId xmlns:p14="http://schemas.microsoft.com/office/powerpoint/2010/main" val="13578910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249BF-EE41-41CB-8CA6-C1F88451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One game in three languages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640BF-E002-46A9-8B13-B4ACF1BA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F2D38-566C-447F-9B69-C73919D0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6196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Kazakh</a:t>
            </a:r>
          </a:p>
          <a:p xmlns:a="http://schemas.openxmlformats.org/drawingml/2006/main">
            <a:pPr>
              <a:defRPr sz="330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Russian</a:t>
            </a:r>
          </a:p>
          <a:p xmlns:a="http://schemas.openxmlformats.org/drawingml/2006/main">
            <a:pPr>
              <a:defRPr sz="330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English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47081-B317-4F13-BD63-4C17B118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4543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Story, lessons and feedback</a:t>
            </a:r>
          </a:p>
          <a:p xmlns:a="http://schemas.openxmlformats.org/drawingml/2006/main">
            <a:pPr>
              <a:defRPr sz="217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in the learner’s chosen language.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92593-30E7-477B-BF63-740E6F45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Switch language without restarting.</a:t>
            </a:r>
          </a:p>
          <a:p xmlns:a="http://schemas.openxmlformats.org/drawingml/2006/main">
            <a:pPr>
              <a:defRPr sz="18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Python syntax stays the same.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6bb7c3755493a"/>
          <a:srcRect xmlns:a="http://schemas.openxmlformats.org/drawingml/2006/main" l="0" t="0" r="50000" b="50000"/>
          <a:stretch xmlns:a="http://schemas.openxmlformats.org/drawingml/2006/main"/>
        </p:blipFill>
        <p:spPr>
          <a:xfrm xmlns:a="http://schemas.openxmlformats.org/drawingml/2006/main">
            <a:off x="6648450" y="1428750"/>
            <a:ext cx="4181475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221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E1BC5-7AC4-4126-A055-F7083F92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How the prototype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92888-9CF3-4697-B5F3-8A8E9257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738E5-7810-4518-B059-F447BBE8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Browser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5460B-5415-46A5-B7BB-212CD77E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4667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HTML and CSS</a:t>
            </a:r>
          </a:p>
          <a:p xmlns:a="http://schemas.openxmlformats.org/drawingml/2006/main">
            <a:pPr>
              <a:def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Responsive layout</a:t>
            </a:r>
          </a:p>
          <a:p xmlns:a="http://schemas.openxmlformats.org/drawingml/2006/main">
            <a:pPr>
              <a:def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Keyboard and touch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DBCB4-C7F0-4BA9-B779-866BC3E3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95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Game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91D71-4AE0-4C68-85D2-BEC2184A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47925"/>
            <a:ext cx="4857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JavaScript and Canvas</a:t>
            </a:r>
          </a:p>
          <a:p xmlns:a="http://schemas.openxmlformats.org/drawingml/2006/main">
            <a:pPr>
              <a:def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Tile movement and interactions</a:t>
            </a:r>
          </a:p>
          <a:p xmlns:a="http://schemas.openxmlformats.org/drawingml/2006/main">
            <a:pPr>
              <a:def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Task checks and story progression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6539E-0E64-4426-9B33-3E381C97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Three translation dictionaries keep the same learning tasks across languages.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C2574-F713-4F94-A6B7-F0BA3FAE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57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Session progress resets on reload. Only the language preference persists locally.</a:t>
            </a:r>
          </a:p>
        </p:txBody>
      </p:sp>
    </p:spTree>
    <p:extLst>
      <p:ext uri="{BB962C8B-B14F-4D97-AF65-F5344CB8AC3E}">
        <p14:creationId xmlns:p14="http://schemas.microsoft.com/office/powerpoint/2010/main" val="7535168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265E0-4841-4231-A239-8F9015BA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Prototype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BEE48-1A20-4956-BDB4-2F56160A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67280-EF3B-4EC7-8CB6-0BA7D07E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Implemented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6CE04-9A0B-46D3-8524-A660AC5C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673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5 playable chapters</a:t>
            </a:r>
          </a:p>
          <a:p xmlns:a="http://schemas.openxmlformats.org/drawingml/2006/main">
            <a:pPr>
              <a:def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3 complete language versions</a:t>
            </a:r>
          </a:p>
          <a:p xmlns:a="http://schemas.openxmlformats.org/drawingml/2006/main">
            <a:pPr>
              <a:def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Hints and collectible story records</a:t>
            </a:r>
          </a:p>
          <a:p xmlns:a="http://schemas.openxmlformats.org/drawingml/2006/main">
            <a:pPr>
              <a:def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2 endings</a:t>
            </a:r>
          </a:p>
          <a:p xmlns:a="http://schemas.openxmlformats.org/drawingml/2006/main">
            <a:pPr>
              <a:def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A downloadable offline version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D6249-B2F3-498C-A80A-C32A0A0A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287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Next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5481D-9501-4680-9C33-00CAA7EF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76250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Classroom usability</a:t>
            </a:r>
          </a:p>
          <a:p xmlns:a="http://schemas.openxmlformats.org/drawingml/2006/main">
            <a:pPr>
              <a:def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Independent code understanding</a:t>
            </a:r>
          </a:p>
          <a:p xmlns:a="http://schemas.openxmlformats.org/drawingml/2006/main">
            <a:pPr>
              <a:def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Kazakh language review</a:t>
            </a:r>
          </a:p>
          <a:p xmlns:a="http://schemas.openxmlformats.org/drawingml/2006/main">
            <a:pPr>
              <a:def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Accessibility with diverse learners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F7D88-3BDC-4EEA-9DFF-187EA3E7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Functional checks pass. Learning gains have not yet been measured.</a:t>
            </a:r>
          </a:p>
        </p:txBody>
      </p:sp>
    </p:spTree>
    <p:extLst>
      <p:ext uri="{BB962C8B-B14F-4D97-AF65-F5344CB8AC3E}">
        <p14:creationId xmlns:p14="http://schemas.microsoft.com/office/powerpoint/2010/main" val="11814268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8C136-6F93-434A-8863-0F4CCC12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A proposed classroom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527F6-A2E6-4014-AE76-2320D0BD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71A27-72CC-4ED6-B897-D851AF7B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6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6704E-6837-45B2-B1BE-FC18B120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14500"/>
            <a:ext cx="319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Before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F949B-404A-4D46-BEE4-5104EE81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71450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Five short questions on the target concepts.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83B4C-C8F7-4809-9C6C-A2312855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6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3C508-502A-4964-BE64-1712DFF8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24175"/>
            <a:ext cx="319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During 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BA83C-F1B5-4656-A1E9-C13FE495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924175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Observe completion, hint use and points of confusion.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5D502-5FD1-4E83-A51A-05AF3860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76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DCD96-92AB-42EF-982F-5A15D1B2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33850"/>
            <a:ext cx="319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After play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BA6E4-1F8D-40F9-B059-E54DEC52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1338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New tasks without hints, plus learner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43239-6C99-4965-9C24-3DDA4B69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Compare with an equivalent conventional lesson before claiming an educational benefit.</a:t>
            </a:r>
          </a:p>
        </p:txBody>
      </p:sp>
    </p:spTree>
    <p:extLst>
      <p:ext uri="{BB962C8B-B14F-4D97-AF65-F5344CB8AC3E}">
        <p14:creationId xmlns:p14="http://schemas.microsoft.com/office/powerpoint/2010/main" val="5198622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BC645-A12B-49C6-BECF-F24C56BB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Next steps and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FDB28-8780-45E2-A675-DA042E5F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9C349-321C-4E84-9F7F-3BBD1694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50DF9-10F1-4652-89D5-BB657A89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57350"/>
            <a:ext cx="8239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A working introduction to Python</a:t>
            </a:r>
          </a:p>
          <a:p xmlns:a="http://schemas.openxmlformats.org/drawingml/2006/main">
            <a:pPr>
              <a:defRPr sz="247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through a complete escape 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FCDE3-3F1F-44B8-ADCD-3B1D4086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36568-5051-463F-9266-9A38BF7D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52775"/>
            <a:ext cx="8239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Classroom pilot and language review.</a:t>
            </a:r>
          </a:p>
          <a:p xmlns:a="http://schemas.openxmlformats.org/drawingml/2006/main">
            <a:pPr>
              <a:defRPr sz="217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Then broader tasks, code execution</a:t>
            </a:r>
          </a:p>
          <a:p xmlns:a="http://schemas.openxmlformats.org/drawingml/2006/main">
            <a:pPr>
              <a:defRPr sz="217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0F4EA"/>
                </a:solidFill>
                <a:latin typeface="Helvetica Neue"/>
                <a:ea typeface="Helvetica Neue"/>
                <a:cs typeface="Helvetica Neue"/>
              </a:rPr>
              <a:t>and saved progress.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957B5-8B68-4040-98EA-A7583BB7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8572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C5F57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3eb1c57979354a5e"/>
              </a:rPr>
              <a:t>Open the live game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469A0-531D-4D12-96D8-C5CA6A98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CBAA7"/>
                </a:solidFill>
                <a:latin typeface="Helvetica Neue"/>
                <a:ea typeface="Helvetica Neue"/>
                <a:cs typeface="Helvetica Neue"/>
              </a:rPr>
              <a:t>Owner access currently required. The offline HTML demo works without internet.</a:t>
            </a:r>
          </a:p>
        </p:txBody>
      </p:sp>
    </p:spTree>
    <p:extLst>
      <p:ext uri="{BB962C8B-B14F-4D97-AF65-F5344CB8AC3E}">
        <p14:creationId xmlns:p14="http://schemas.microsoft.com/office/powerpoint/2010/main" val="1237210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2026-09-23T16:47:57.3470000Z</dcterms:created>
  <dcterms:modified xsi:type="dcterms:W3CDTF">2026-09-23T16:47:57.3470000Z</dcterms:modified>
</coreProperties>
</file>